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5143500" cx="9144000"/>
  <p:notesSz cx="6858000" cy="9144000"/>
  <p:embeddedFontLst>
    <p:embeddedFont>
      <p:font typeface="Nunito"/>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Nunito-bold.fntdata"/><Relationship Id="rId25" Type="http://schemas.openxmlformats.org/officeDocument/2006/relationships/font" Target="fonts/Nunito-regular.fntdata"/><Relationship Id="rId28" Type="http://schemas.openxmlformats.org/officeDocument/2006/relationships/font" Target="fonts/Nunito-boldItalic.fntdata"/><Relationship Id="rId27" Type="http://schemas.openxmlformats.org/officeDocument/2006/relationships/font" Target="fonts/Nunit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2c68df3cdea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2c68df3cdea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2c68df3cdea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2c68df3cdea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2c68df3cdea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2c68df3cdea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2c68df3cdea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2c68df3cdea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lang="en" sz="1050">
                <a:solidFill>
                  <a:srgbClr val="0000FF"/>
                </a:solidFill>
                <a:highlight>
                  <a:srgbClr val="F7F7F7"/>
                </a:highlight>
                <a:latin typeface="Courier New"/>
                <a:ea typeface="Courier New"/>
                <a:cs typeface="Courier New"/>
                <a:sym typeface="Courier New"/>
              </a:rPr>
              <a:t>From this box plot graph, we can conclude that closing price is varying with respect to time. we can confirm that,  trend and seasonality exists for stock data set</a:t>
            </a:r>
            <a:endParaRPr sz="1050">
              <a:solidFill>
                <a:srgbClr val="0000FF"/>
              </a:solidFill>
              <a:highlight>
                <a:srgbClr val="F7F7F7"/>
              </a:highlight>
              <a:latin typeface="Courier New"/>
              <a:ea typeface="Courier New"/>
              <a:cs typeface="Courier New"/>
              <a:sym typeface="Courier New"/>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2c68df3cdea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2c68df3cdea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2c68df3cdea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2c68df3cdea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2c68df3cdea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2c68df3cdea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2c68df3cdea_0_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2c68df3cdea_0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2c68df3cdea_0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2c68df3cdea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2c68df3cdea_0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2c68df3cdea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2c68df3cdea_0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2c68df3cdea_0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2c68df3cdea_0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2c68df3cdea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2c68df3cdea_0_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2c68df3cdea_0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2c68df3cdea_0_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2c68df3cdea_0_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2c68df3cdea_0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2c68df3cdea_0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2c68df3cdea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2c68df3cdea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2c68df3cdea_0_2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2c68df3cdea_0_2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2c68df3cdea_0_2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2c68df3cdea_0_2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2"/>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35" name="Google Shape;35;p2"/>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37"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3"/>
          <p:cNvSpPr txBox="1"/>
          <p:nvPr>
            <p:ph type="title"/>
          </p:nvPr>
        </p:nvSpPr>
        <p:spPr>
          <a:xfrm>
            <a:off x="1888684" y="1746100"/>
            <a:ext cx="53775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p:txBody>
      </p:sp>
      <p:sp>
        <p:nvSpPr>
          <p:cNvPr id="48" name="Google Shape;48;p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49"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 name="Google Shape;54;p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 name="Google Shape;61;p5"/>
          <p:cNvSpPr txBox="1"/>
          <p:nvPr>
            <p:ph idx="1" type="body"/>
          </p:nvPr>
        </p:nvSpPr>
        <p:spPr>
          <a:xfrm>
            <a:off x="819150"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2" name="Google Shape;62;p5"/>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3" name="Google Shape;63;p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9" name="Google Shape;69;p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txBox="1"/>
          <p:nvPr>
            <p:ph type="title"/>
          </p:nvPr>
        </p:nvSpPr>
        <p:spPr>
          <a:xfrm>
            <a:off x="819150" y="845600"/>
            <a:ext cx="3709200" cy="1383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5" name="Google Shape;75;p7"/>
          <p:cNvSpPr txBox="1"/>
          <p:nvPr>
            <p:ph idx="1" type="body"/>
          </p:nvPr>
        </p:nvSpPr>
        <p:spPr>
          <a:xfrm>
            <a:off x="830700" y="2319050"/>
            <a:ext cx="3709200" cy="2119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6" name="Google Shape;76;p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8"/>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p:txBody>
      </p:sp>
      <p:sp>
        <p:nvSpPr>
          <p:cNvPr id="94" name="Google Shape;94;p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txBox="1"/>
          <p:nvPr>
            <p:ph type="title"/>
          </p:nvPr>
        </p:nvSpPr>
        <p:spPr>
          <a:xfrm>
            <a:off x="819150" y="845600"/>
            <a:ext cx="6424200" cy="705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0" name="Google Shape;100;p9"/>
          <p:cNvSpPr txBox="1"/>
          <p:nvPr>
            <p:ph idx="1" type="subTitle"/>
          </p:nvPr>
        </p:nvSpPr>
        <p:spPr>
          <a:xfrm>
            <a:off x="819150" y="1550700"/>
            <a:ext cx="5859900" cy="393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9"/>
          <p:cNvSpPr txBox="1"/>
          <p:nvPr>
            <p:ph idx="2" type="body"/>
          </p:nvPr>
        </p:nvSpPr>
        <p:spPr>
          <a:xfrm>
            <a:off x="819150" y="2467050"/>
            <a:ext cx="5859900" cy="209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2" name="Google Shape;102;p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0"/>
          <p:cNvSpPr txBox="1"/>
          <p:nvPr>
            <p:ph idx="1" type="body"/>
          </p:nvPr>
        </p:nvSpPr>
        <p:spPr>
          <a:xfrm>
            <a:off x="328025" y="4163500"/>
            <a:ext cx="7415100" cy="605100"/>
          </a:xfrm>
          <a:prstGeom prst="rect">
            <a:avLst/>
          </a:prstGeom>
        </p:spPr>
        <p:txBody>
          <a:bodyPr anchorCtr="0" anchor="b"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8" name="Google Shape;108;p1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hasCustomPrompt="1" type="title"/>
          </p:nvPr>
        </p:nvSpPr>
        <p:spPr>
          <a:xfrm>
            <a:off x="1385850" y="1383850"/>
            <a:ext cx="6372300" cy="1379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p:nvPr>
            <p:ph idx="1" type="body"/>
          </p:nvPr>
        </p:nvSpPr>
        <p:spPr>
          <a:xfrm>
            <a:off x="1385850" y="2863850"/>
            <a:ext cx="6372300" cy="6411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21" name="Google Shape;121;p1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1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p:txBody>
      </p:sp>
      <p:sp>
        <p:nvSpPr>
          <p:cNvPr id="7" name="Google Shape;7;p1"/>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indent="-298450" lvl="1" marL="914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indent="-298450" lvl="2" marL="1371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indent="-298450" lvl="3" marL="1828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indent="-298450" lvl="4" marL="22860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indent="-298450" lvl="5" marL="27432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indent="-298450" lvl="6" marL="3200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indent="-298450" lvl="7" marL="3657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indent="-298450" lvl="8" marL="4114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p:txBody>
      </p:sp>
      <p:sp>
        <p:nvSpPr>
          <p:cNvPr id="8" name="Google Shape;8;p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mc:AlternateContent>
    <mc:Choice Requires="p14">
      <p:transition spd="slow" p14:dur="2500">
        <p14:flip dir="l"/>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6.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3"/>
          <p:cNvSpPr txBox="1"/>
          <p:nvPr>
            <p:ph type="ctrTitle"/>
          </p:nvPr>
        </p:nvSpPr>
        <p:spPr>
          <a:xfrm>
            <a:off x="1858700" y="1263824"/>
            <a:ext cx="5361300" cy="14256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b="1" lang="en"/>
              <a:t>Project Mentor:</a:t>
            </a:r>
            <a:endParaRPr b="1"/>
          </a:p>
          <a:p>
            <a:pPr indent="0" lvl="0" marL="0" rtl="0" algn="ctr">
              <a:spcBef>
                <a:spcPts val="0"/>
              </a:spcBef>
              <a:spcAft>
                <a:spcPts val="0"/>
              </a:spcAft>
              <a:buNone/>
            </a:pPr>
            <a:r>
              <a:rPr b="1" lang="en"/>
              <a:t>Dilavar Basha</a:t>
            </a:r>
            <a:endParaRPr b="1"/>
          </a:p>
          <a:p>
            <a:pPr indent="0" lvl="0" marL="0" rtl="0" algn="ctr">
              <a:spcBef>
                <a:spcPts val="0"/>
              </a:spcBef>
              <a:spcAft>
                <a:spcPts val="0"/>
              </a:spcAft>
              <a:buNone/>
            </a:pPr>
            <a:r>
              <a:t/>
            </a:r>
            <a:endParaRPr/>
          </a:p>
        </p:txBody>
      </p:sp>
      <p:sp>
        <p:nvSpPr>
          <p:cNvPr id="129" name="Google Shape;129;p13"/>
          <p:cNvSpPr txBox="1"/>
          <p:nvPr>
            <p:ph idx="1" type="subTitle"/>
          </p:nvPr>
        </p:nvSpPr>
        <p:spPr>
          <a:xfrm>
            <a:off x="1858700" y="2454175"/>
            <a:ext cx="5709600" cy="174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2300">
                <a:latin typeface="Nunito"/>
                <a:ea typeface="Nunito"/>
                <a:cs typeface="Nunito"/>
                <a:sym typeface="Nunito"/>
              </a:rPr>
              <a:t>Project Team Members- Group 4</a:t>
            </a:r>
            <a:endParaRPr b="1" sz="2300">
              <a:latin typeface="Nunito"/>
              <a:ea typeface="Nunito"/>
              <a:cs typeface="Nunito"/>
              <a:sym typeface="Nunito"/>
            </a:endParaRPr>
          </a:p>
          <a:p>
            <a:pPr indent="0" lvl="0" marL="0" rtl="0" algn="ctr">
              <a:spcBef>
                <a:spcPts val="0"/>
              </a:spcBef>
              <a:spcAft>
                <a:spcPts val="0"/>
              </a:spcAft>
              <a:buNone/>
            </a:pPr>
            <a:r>
              <a:rPr b="1" lang="en" sz="2300">
                <a:latin typeface="Nunito"/>
                <a:ea typeface="Nunito"/>
                <a:cs typeface="Nunito"/>
                <a:sym typeface="Nunito"/>
              </a:rPr>
              <a:t>H Sriharsha</a:t>
            </a:r>
            <a:endParaRPr b="1" sz="2300">
              <a:latin typeface="Nunito"/>
              <a:ea typeface="Nunito"/>
              <a:cs typeface="Nunito"/>
              <a:sym typeface="Nunito"/>
            </a:endParaRPr>
          </a:p>
          <a:p>
            <a:pPr indent="0" lvl="0" marL="0" rtl="0" algn="ctr">
              <a:spcBef>
                <a:spcPts val="0"/>
              </a:spcBef>
              <a:spcAft>
                <a:spcPts val="0"/>
              </a:spcAft>
              <a:buNone/>
            </a:pPr>
            <a:r>
              <a:rPr b="1" lang="en" sz="2300">
                <a:latin typeface="Nunito"/>
                <a:ea typeface="Nunito"/>
                <a:cs typeface="Nunito"/>
                <a:sym typeface="Nunito"/>
              </a:rPr>
              <a:t>Prakash Ravindra Thakur</a:t>
            </a:r>
            <a:endParaRPr b="1" sz="2300">
              <a:latin typeface="Nunito"/>
              <a:ea typeface="Nunito"/>
              <a:cs typeface="Nunito"/>
              <a:sym typeface="Nunito"/>
            </a:endParaRPr>
          </a:p>
          <a:p>
            <a:pPr indent="0" lvl="0" marL="0" rtl="0" algn="ctr">
              <a:spcBef>
                <a:spcPts val="0"/>
              </a:spcBef>
              <a:spcAft>
                <a:spcPts val="0"/>
              </a:spcAft>
              <a:buNone/>
            </a:pPr>
            <a:r>
              <a:rPr b="1" lang="en" sz="2300">
                <a:latin typeface="Nunito"/>
                <a:ea typeface="Nunito"/>
                <a:cs typeface="Nunito"/>
                <a:sym typeface="Nunito"/>
              </a:rPr>
              <a:t>Virender Singh</a:t>
            </a:r>
            <a:endParaRPr b="1" sz="2300">
              <a:latin typeface="Nunito"/>
              <a:ea typeface="Nunito"/>
              <a:cs typeface="Nunito"/>
              <a:sym typeface="Nunito"/>
            </a:endParaRPr>
          </a:p>
          <a:p>
            <a:pPr indent="0" lvl="0" marL="0" rtl="0" algn="ctr">
              <a:spcBef>
                <a:spcPts val="0"/>
              </a:spcBef>
              <a:spcAft>
                <a:spcPts val="0"/>
              </a:spcAft>
              <a:buNone/>
            </a:pPr>
            <a:r>
              <a:t/>
            </a:r>
            <a:endParaRPr sz="2300"/>
          </a:p>
          <a:p>
            <a:pPr indent="0" lvl="0" marL="0" rtl="0" algn="ctr">
              <a:spcBef>
                <a:spcPts val="0"/>
              </a:spcBef>
              <a:spcAft>
                <a:spcPts val="0"/>
              </a:spcAft>
              <a:buNone/>
            </a:pPr>
            <a:r>
              <a:t/>
            </a:r>
            <a:endParaRPr sz="2300"/>
          </a:p>
          <a:p>
            <a:pPr indent="0" lvl="0" marL="0" rtl="0" algn="l">
              <a:spcBef>
                <a:spcPts val="0"/>
              </a:spcBef>
              <a:spcAft>
                <a:spcPts val="0"/>
              </a:spcAft>
              <a:buNone/>
            </a:pPr>
            <a:r>
              <a:t/>
            </a:r>
            <a:endParaRPr sz="2300"/>
          </a:p>
          <a:p>
            <a:pPr indent="0" lvl="0" marL="0" rtl="0" algn="l">
              <a:spcBef>
                <a:spcPts val="0"/>
              </a:spcBef>
              <a:spcAft>
                <a:spcPts val="0"/>
              </a:spcAft>
              <a:buNone/>
            </a:pPr>
            <a:r>
              <a:t/>
            </a:r>
            <a:endParaRPr sz="2300"/>
          </a:p>
          <a:p>
            <a:pPr indent="0" lvl="0" marL="0" rtl="0" algn="l">
              <a:spcBef>
                <a:spcPts val="0"/>
              </a:spcBef>
              <a:spcAft>
                <a:spcPts val="0"/>
              </a:spcAft>
              <a:buNone/>
            </a:pPr>
            <a:r>
              <a:rPr lang="en" sz="2300"/>
              <a:t>                </a:t>
            </a:r>
            <a:endParaRPr sz="2300"/>
          </a:p>
          <a:p>
            <a:pPr indent="0" lvl="0" marL="0" rtl="0" algn="ctr">
              <a:spcBef>
                <a:spcPts val="0"/>
              </a:spcBef>
              <a:spcAft>
                <a:spcPts val="0"/>
              </a:spcAft>
              <a:buNone/>
            </a:pPr>
            <a:r>
              <a:t/>
            </a:r>
            <a:endParaRPr sz="2300"/>
          </a:p>
          <a:p>
            <a:pPr indent="0" lvl="0" marL="0" rtl="0" algn="ctr">
              <a:spcBef>
                <a:spcPts val="0"/>
              </a:spcBef>
              <a:spcAft>
                <a:spcPts val="0"/>
              </a:spcAft>
              <a:buNone/>
            </a:pPr>
            <a:r>
              <a:t/>
            </a:r>
            <a:endParaRPr sz="23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4"/>
          <p:cNvSpPr txBox="1"/>
          <p:nvPr>
            <p:ph type="title"/>
          </p:nvPr>
        </p:nvSpPr>
        <p:spPr>
          <a:xfrm>
            <a:off x="1431225" y="845600"/>
            <a:ext cx="60081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Project:  Time Series Forecasting</a:t>
            </a:r>
            <a:endParaRPr b="1"/>
          </a:p>
        </p:txBody>
      </p:sp>
      <p:sp>
        <p:nvSpPr>
          <p:cNvPr id="135" name="Google Shape;135;p14"/>
          <p:cNvSpPr txBox="1"/>
          <p:nvPr>
            <p:ph idx="1" type="body"/>
          </p:nvPr>
        </p:nvSpPr>
        <p:spPr>
          <a:xfrm>
            <a:off x="1162875" y="1990725"/>
            <a:ext cx="7484100" cy="2496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300"/>
              <a:t>  </a:t>
            </a:r>
            <a:r>
              <a:rPr b="1" lang="en" sz="2300">
                <a:highlight>
                  <a:srgbClr val="FFFFFF"/>
                </a:highlight>
              </a:rPr>
              <a:t>Objective:</a:t>
            </a:r>
            <a:r>
              <a:rPr lang="en" sz="2300"/>
              <a:t>  </a:t>
            </a:r>
            <a:r>
              <a:rPr lang="en" sz="1900">
                <a:solidFill>
                  <a:srgbClr val="000000"/>
                </a:solidFill>
                <a:latin typeface="Nunito"/>
                <a:ea typeface="Nunito"/>
                <a:cs typeface="Nunito"/>
                <a:sym typeface="Nunito"/>
              </a:rPr>
              <a:t>To predict the stock price for the next 30 days.   Predicting the stock price can be more beneficial for organizations. Company can gain more profit.  Organizations can improve their business by applying  trading strategies. </a:t>
            </a:r>
            <a:endParaRPr sz="2000">
              <a:solidFill>
                <a:srgbClr val="000000"/>
              </a:solidFill>
              <a:latin typeface="Nunito"/>
              <a:ea typeface="Nunito"/>
              <a:cs typeface="Nunito"/>
              <a:sym typeface="Nunito"/>
            </a:endParaRPr>
          </a:p>
          <a:p>
            <a:pPr indent="0" lvl="0" marL="0" rtl="0" algn="l">
              <a:spcBef>
                <a:spcPts val="1200"/>
              </a:spcBef>
              <a:spcAft>
                <a:spcPts val="1200"/>
              </a:spcAft>
              <a:buNone/>
            </a:pPr>
            <a:r>
              <a:t/>
            </a:r>
            <a:endParaRPr sz="24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5"/>
          <p:cNvSpPr txBox="1"/>
          <p:nvPr>
            <p:ph type="title"/>
          </p:nvPr>
        </p:nvSpPr>
        <p:spPr>
          <a:xfrm>
            <a:off x="1863575" y="845600"/>
            <a:ext cx="69324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Project workflow</a:t>
            </a:r>
            <a:endParaRPr b="1"/>
          </a:p>
        </p:txBody>
      </p:sp>
      <p:sp>
        <p:nvSpPr>
          <p:cNvPr id="141" name="Google Shape;141;p15"/>
          <p:cNvSpPr txBox="1"/>
          <p:nvPr>
            <p:ph idx="1" type="body"/>
          </p:nvPr>
        </p:nvSpPr>
        <p:spPr>
          <a:xfrm>
            <a:off x="998875" y="1699600"/>
            <a:ext cx="7692900" cy="2739000"/>
          </a:xfrm>
          <a:prstGeom prst="rect">
            <a:avLst/>
          </a:prstGeom>
        </p:spPr>
        <p:txBody>
          <a:bodyPr anchorCtr="0" anchor="t" bIns="91425" lIns="91425" spcFirstLastPara="1" rIns="91425" wrap="square" tIns="91425">
            <a:normAutofit/>
          </a:bodyPr>
          <a:lstStyle/>
          <a:p>
            <a:pPr indent="-349250" lvl="0" marL="457200" rtl="0" algn="l">
              <a:spcBef>
                <a:spcPts val="0"/>
              </a:spcBef>
              <a:spcAft>
                <a:spcPts val="0"/>
              </a:spcAft>
              <a:buSzPts val="1900"/>
              <a:buFont typeface="Nunito"/>
              <a:buChar char="●"/>
            </a:pPr>
            <a:r>
              <a:rPr lang="en" sz="1900">
                <a:latin typeface="Nunito"/>
                <a:ea typeface="Nunito"/>
                <a:cs typeface="Nunito"/>
                <a:sym typeface="Nunito"/>
              </a:rPr>
              <a:t>EDA (Exploratory Data Analytics)</a:t>
            </a:r>
            <a:endParaRPr sz="1900">
              <a:latin typeface="Nunito"/>
              <a:ea typeface="Nunito"/>
              <a:cs typeface="Nunito"/>
              <a:sym typeface="Nunito"/>
            </a:endParaRPr>
          </a:p>
          <a:p>
            <a:pPr indent="-349250" lvl="0" marL="457200" rtl="0" algn="l">
              <a:spcBef>
                <a:spcPts val="0"/>
              </a:spcBef>
              <a:spcAft>
                <a:spcPts val="0"/>
              </a:spcAft>
              <a:buSzPts val="1900"/>
              <a:buFont typeface="Nunito"/>
              <a:buChar char="●"/>
            </a:pPr>
            <a:r>
              <a:rPr lang="en" sz="1900">
                <a:latin typeface="Nunito"/>
                <a:ea typeface="Nunito"/>
                <a:cs typeface="Nunito"/>
                <a:sym typeface="Nunito"/>
              </a:rPr>
              <a:t>Data Visualization( Gaining insights from data)</a:t>
            </a:r>
            <a:endParaRPr sz="1900">
              <a:latin typeface="Nunito"/>
              <a:ea typeface="Nunito"/>
              <a:cs typeface="Nunito"/>
              <a:sym typeface="Nunito"/>
            </a:endParaRPr>
          </a:p>
          <a:p>
            <a:pPr indent="-349250" lvl="0" marL="457200" rtl="0" algn="l">
              <a:spcBef>
                <a:spcPts val="0"/>
              </a:spcBef>
              <a:spcAft>
                <a:spcPts val="0"/>
              </a:spcAft>
              <a:buSzPts val="1900"/>
              <a:buFont typeface="Nunito"/>
              <a:buChar char="●"/>
            </a:pPr>
            <a:r>
              <a:rPr lang="en" sz="1900">
                <a:latin typeface="Nunito"/>
                <a:ea typeface="Nunito"/>
                <a:cs typeface="Nunito"/>
                <a:sym typeface="Nunito"/>
              </a:rPr>
              <a:t>Feature Engineering (Handling variables and scaling)</a:t>
            </a:r>
            <a:endParaRPr sz="1900">
              <a:latin typeface="Nunito"/>
              <a:ea typeface="Nunito"/>
              <a:cs typeface="Nunito"/>
              <a:sym typeface="Nunito"/>
            </a:endParaRPr>
          </a:p>
          <a:p>
            <a:pPr indent="-349250" lvl="0" marL="457200" rtl="0" algn="l">
              <a:spcBef>
                <a:spcPts val="0"/>
              </a:spcBef>
              <a:spcAft>
                <a:spcPts val="0"/>
              </a:spcAft>
              <a:buSzPts val="1900"/>
              <a:buFont typeface="Nunito"/>
              <a:buChar char="●"/>
            </a:pPr>
            <a:r>
              <a:rPr lang="en" sz="1900">
                <a:latin typeface="Nunito"/>
                <a:ea typeface="Nunito"/>
                <a:cs typeface="Nunito"/>
                <a:sym typeface="Nunito"/>
              </a:rPr>
              <a:t>Model Building</a:t>
            </a:r>
            <a:endParaRPr sz="1900">
              <a:latin typeface="Nunito"/>
              <a:ea typeface="Nunito"/>
              <a:cs typeface="Nunito"/>
              <a:sym typeface="Nunito"/>
            </a:endParaRPr>
          </a:p>
          <a:p>
            <a:pPr indent="-349250" lvl="0" marL="457200" rtl="0" algn="l">
              <a:spcBef>
                <a:spcPts val="0"/>
              </a:spcBef>
              <a:spcAft>
                <a:spcPts val="0"/>
              </a:spcAft>
              <a:buSzPts val="1900"/>
              <a:buFont typeface="Nunito"/>
              <a:buChar char="●"/>
            </a:pPr>
            <a:r>
              <a:rPr lang="en" sz="1900">
                <a:latin typeface="Nunito"/>
                <a:ea typeface="Nunito"/>
                <a:cs typeface="Nunito"/>
                <a:sym typeface="Nunito"/>
              </a:rPr>
              <a:t>Model Evaluation</a:t>
            </a:r>
            <a:endParaRPr sz="1900">
              <a:latin typeface="Nunito"/>
              <a:ea typeface="Nunito"/>
              <a:cs typeface="Nunito"/>
              <a:sym typeface="Nunito"/>
            </a:endParaRPr>
          </a:p>
          <a:p>
            <a:pPr indent="-349250" lvl="0" marL="457200" rtl="0" algn="l">
              <a:spcBef>
                <a:spcPts val="0"/>
              </a:spcBef>
              <a:spcAft>
                <a:spcPts val="0"/>
              </a:spcAft>
              <a:buSzPts val="1900"/>
              <a:buFont typeface="Nunito"/>
              <a:buChar char="●"/>
            </a:pPr>
            <a:r>
              <a:rPr lang="en" sz="1900">
                <a:latin typeface="Nunito"/>
                <a:ea typeface="Nunito"/>
                <a:cs typeface="Nunito"/>
                <a:sym typeface="Nunito"/>
              </a:rPr>
              <a:t>Model Deployment</a:t>
            </a:r>
            <a:endParaRPr sz="1900">
              <a:latin typeface="Nunito"/>
              <a:ea typeface="Nunito"/>
              <a:cs typeface="Nunito"/>
              <a:sym typeface="Nuni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6"/>
          <p:cNvSpPr txBox="1"/>
          <p:nvPr>
            <p:ph type="title"/>
          </p:nvPr>
        </p:nvSpPr>
        <p:spPr>
          <a:xfrm>
            <a:off x="1192700" y="845600"/>
            <a:ext cx="71322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EDA (Exploratory Data Analytics)</a:t>
            </a:r>
            <a:endParaRPr b="1"/>
          </a:p>
        </p:txBody>
      </p:sp>
      <p:sp>
        <p:nvSpPr>
          <p:cNvPr id="147" name="Google Shape;147;p16"/>
          <p:cNvSpPr txBox="1"/>
          <p:nvPr>
            <p:ph idx="1" type="body"/>
          </p:nvPr>
        </p:nvSpPr>
        <p:spPr>
          <a:xfrm>
            <a:off x="1005950" y="1625050"/>
            <a:ext cx="7505700" cy="2813700"/>
          </a:xfrm>
          <a:prstGeom prst="rect">
            <a:avLst/>
          </a:prstGeom>
        </p:spPr>
        <p:txBody>
          <a:bodyPr anchorCtr="0" anchor="t" bIns="91425" lIns="91425" spcFirstLastPara="1" rIns="91425" wrap="square" tIns="91425">
            <a:normAutofit/>
          </a:bodyPr>
          <a:lstStyle/>
          <a:p>
            <a:pPr indent="-368300" lvl="0" marL="457200" rtl="0" algn="l">
              <a:spcBef>
                <a:spcPts val="0"/>
              </a:spcBef>
              <a:spcAft>
                <a:spcPts val="0"/>
              </a:spcAft>
              <a:buSzPts val="2200"/>
              <a:buFont typeface="Nunito"/>
              <a:buChar char="●"/>
            </a:pPr>
            <a:r>
              <a:rPr lang="en" sz="2200">
                <a:latin typeface="Nunito"/>
                <a:ea typeface="Nunito"/>
                <a:cs typeface="Nunito"/>
                <a:sym typeface="Nunito"/>
              </a:rPr>
              <a:t>Stock price data contains 6,626 rows and 6 columns</a:t>
            </a:r>
            <a:endParaRPr sz="2200">
              <a:latin typeface="Nunito"/>
              <a:ea typeface="Nunito"/>
              <a:cs typeface="Nunito"/>
              <a:sym typeface="Nunito"/>
            </a:endParaRPr>
          </a:p>
          <a:p>
            <a:pPr indent="-368300" lvl="0" marL="457200" rtl="0" algn="l">
              <a:spcBef>
                <a:spcPts val="0"/>
              </a:spcBef>
              <a:spcAft>
                <a:spcPts val="0"/>
              </a:spcAft>
              <a:buSzPts val="2200"/>
              <a:buFont typeface="Nunito"/>
              <a:buChar char="●"/>
            </a:pPr>
            <a:r>
              <a:rPr lang="en" sz="2200">
                <a:latin typeface="Nunito"/>
                <a:ea typeface="Nunito"/>
                <a:cs typeface="Nunito"/>
                <a:sym typeface="Nunito"/>
              </a:rPr>
              <a:t>Stock price data has a size of 39,756</a:t>
            </a:r>
            <a:endParaRPr sz="2200">
              <a:latin typeface="Nunito"/>
              <a:ea typeface="Nunito"/>
              <a:cs typeface="Nunito"/>
              <a:sym typeface="Nunito"/>
            </a:endParaRPr>
          </a:p>
          <a:p>
            <a:pPr indent="-368300" lvl="0" marL="457200" rtl="0" algn="l">
              <a:spcBef>
                <a:spcPts val="0"/>
              </a:spcBef>
              <a:spcAft>
                <a:spcPts val="0"/>
              </a:spcAft>
              <a:buSzPts val="2200"/>
              <a:buFont typeface="Nunito"/>
              <a:buChar char="●"/>
            </a:pPr>
            <a:r>
              <a:rPr lang="en" sz="2200">
                <a:latin typeface="Nunito"/>
                <a:ea typeface="Nunito"/>
                <a:cs typeface="Nunito"/>
                <a:sym typeface="Nunito"/>
              </a:rPr>
              <a:t>No null, missing, duplicated values present in data set</a:t>
            </a:r>
            <a:endParaRPr sz="2200">
              <a:latin typeface="Nunito"/>
              <a:ea typeface="Nunito"/>
              <a:cs typeface="Nunito"/>
              <a:sym typeface="Nunito"/>
            </a:endParaRPr>
          </a:p>
          <a:p>
            <a:pPr indent="-368300" lvl="0" marL="457200" rtl="0" algn="l">
              <a:spcBef>
                <a:spcPts val="0"/>
              </a:spcBef>
              <a:spcAft>
                <a:spcPts val="0"/>
              </a:spcAft>
              <a:buSzPts val="2200"/>
              <a:buFont typeface="Nunito"/>
              <a:buChar char="●"/>
            </a:pPr>
            <a:r>
              <a:rPr lang="en" sz="2200">
                <a:latin typeface="Nunito"/>
                <a:ea typeface="Nunito"/>
                <a:cs typeface="Nunito"/>
                <a:sym typeface="Nunito"/>
              </a:rPr>
              <a:t>Heat map plot concludes, there exists a co-relationship between the maximum features</a:t>
            </a:r>
            <a:endParaRPr sz="2200">
              <a:latin typeface="Nunito"/>
              <a:ea typeface="Nunito"/>
              <a:cs typeface="Nunito"/>
              <a:sym typeface="Nunito"/>
            </a:endParaRPr>
          </a:p>
          <a:p>
            <a:pPr indent="-368300" lvl="0" marL="457200" rtl="0" algn="l">
              <a:spcBef>
                <a:spcPts val="0"/>
              </a:spcBef>
              <a:spcAft>
                <a:spcPts val="0"/>
              </a:spcAft>
              <a:buSzPts val="2200"/>
              <a:buFont typeface="Nunito"/>
              <a:buChar char="●"/>
            </a:pPr>
            <a:r>
              <a:rPr lang="en" sz="2200">
                <a:latin typeface="Nunito"/>
                <a:ea typeface="Nunito"/>
                <a:cs typeface="Nunito"/>
                <a:sym typeface="Nunito"/>
              </a:rPr>
              <a:t>Handling outliers</a:t>
            </a:r>
            <a:endParaRPr sz="2200">
              <a:latin typeface="Nunito"/>
              <a:ea typeface="Nunito"/>
              <a:cs typeface="Nunito"/>
              <a:sym typeface="Nuni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7"/>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         Data Visualization</a:t>
            </a:r>
            <a:endParaRPr/>
          </a:p>
        </p:txBody>
      </p:sp>
      <p:sp>
        <p:nvSpPr>
          <p:cNvPr id="153" name="Google Shape;153;p17"/>
          <p:cNvSpPr txBox="1"/>
          <p:nvPr>
            <p:ph idx="1" type="body"/>
          </p:nvPr>
        </p:nvSpPr>
        <p:spPr>
          <a:xfrm>
            <a:off x="4934775" y="1594200"/>
            <a:ext cx="3473700" cy="2151600"/>
          </a:xfrm>
          <a:prstGeom prst="rect">
            <a:avLst/>
          </a:prstGeom>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250">
                <a:solidFill>
                  <a:srgbClr val="0000FF"/>
                </a:solidFill>
                <a:highlight>
                  <a:srgbClr val="F7F7F7"/>
                </a:highlight>
                <a:latin typeface="Courier New"/>
                <a:ea typeface="Courier New"/>
                <a:cs typeface="Courier New"/>
                <a:sym typeface="Courier New"/>
              </a:rPr>
              <a:t>From this box plot graph, we can conclude that closing price is varying with respect to time. we can confirm that,  trend and seasonality exists for stock data set</a:t>
            </a:r>
            <a:endParaRPr sz="1250">
              <a:solidFill>
                <a:srgbClr val="0000FF"/>
              </a:solidFill>
              <a:highlight>
                <a:srgbClr val="F7F7F7"/>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a:solidFill>
                <a:srgbClr val="000000"/>
              </a:solidFill>
              <a:latin typeface="Arial"/>
              <a:ea typeface="Arial"/>
              <a:cs typeface="Arial"/>
              <a:sym typeface="Arial"/>
            </a:endParaRPr>
          </a:p>
          <a:p>
            <a:pPr indent="0" lvl="0" marL="0" rtl="0" algn="l">
              <a:spcBef>
                <a:spcPts val="0"/>
              </a:spcBef>
              <a:spcAft>
                <a:spcPts val="1200"/>
              </a:spcAft>
              <a:buNone/>
            </a:pPr>
            <a:r>
              <a:t/>
            </a:r>
            <a:endParaRPr/>
          </a:p>
        </p:txBody>
      </p:sp>
      <p:pic>
        <p:nvPicPr>
          <p:cNvPr id="154" name="Google Shape;154;p17"/>
          <p:cNvPicPr preferRelativeResize="0"/>
          <p:nvPr/>
        </p:nvPicPr>
        <p:blipFill>
          <a:blip r:embed="rId3">
            <a:alphaModFix/>
          </a:blip>
          <a:stretch>
            <a:fillRect/>
          </a:stretch>
        </p:blipFill>
        <p:spPr>
          <a:xfrm>
            <a:off x="819150" y="2098375"/>
            <a:ext cx="3801725" cy="24480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8"/>
          <p:cNvSpPr txBox="1"/>
          <p:nvPr>
            <p:ph type="title"/>
          </p:nvPr>
        </p:nvSpPr>
        <p:spPr>
          <a:xfrm>
            <a:off x="819150" y="491975"/>
            <a:ext cx="7505700" cy="93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             Trend Plot</a:t>
            </a:r>
            <a:endParaRPr/>
          </a:p>
        </p:txBody>
      </p:sp>
      <p:sp>
        <p:nvSpPr>
          <p:cNvPr id="160" name="Google Shape;160;p18"/>
          <p:cNvSpPr txBox="1"/>
          <p:nvPr>
            <p:ph idx="1" type="body"/>
          </p:nvPr>
        </p:nvSpPr>
        <p:spPr>
          <a:xfrm>
            <a:off x="4785750" y="2005625"/>
            <a:ext cx="3935700" cy="598200"/>
          </a:xfrm>
          <a:prstGeom prst="rect">
            <a:avLst/>
          </a:prstGeom>
        </p:spPr>
        <p:txBody>
          <a:bodyPr anchorCtr="0" anchor="t" bIns="91425" lIns="91425" spcFirstLastPara="1" rIns="91425" wrap="square" tIns="91425">
            <a:spAutoFit/>
          </a:bodyPr>
          <a:lstStyle/>
          <a:p>
            <a:pPr indent="0" lvl="0" marL="0" rtl="0" algn="l">
              <a:spcBef>
                <a:spcPts val="0"/>
              </a:spcBef>
              <a:spcAft>
                <a:spcPts val="1200"/>
              </a:spcAft>
              <a:buNone/>
            </a:pPr>
            <a:r>
              <a:rPr lang="en" sz="1250">
                <a:solidFill>
                  <a:srgbClr val="0000FF"/>
                </a:solidFill>
                <a:highlight>
                  <a:srgbClr val="F7F7F7"/>
                </a:highlight>
                <a:latin typeface="Courier New"/>
                <a:ea typeface="Courier New"/>
                <a:cs typeface="Courier New"/>
                <a:sym typeface="Courier New"/>
              </a:rPr>
              <a:t>From this trend plot we can conclude that </a:t>
            </a:r>
            <a:r>
              <a:rPr lang="en" sz="1250">
                <a:solidFill>
                  <a:srgbClr val="0000FF"/>
                </a:solidFill>
                <a:highlight>
                  <a:srgbClr val="F7F7F7"/>
                </a:highlight>
                <a:latin typeface="Courier New"/>
                <a:ea typeface="Courier New"/>
                <a:cs typeface="Courier New"/>
                <a:sym typeface="Courier New"/>
              </a:rPr>
              <a:t>trend</a:t>
            </a:r>
            <a:r>
              <a:rPr lang="en" sz="1250">
                <a:solidFill>
                  <a:srgbClr val="0000FF"/>
                </a:solidFill>
                <a:highlight>
                  <a:srgbClr val="F7F7F7"/>
                </a:highlight>
                <a:latin typeface="Courier New"/>
                <a:ea typeface="Courier New"/>
                <a:cs typeface="Courier New"/>
                <a:sym typeface="Courier New"/>
              </a:rPr>
              <a:t> is increasing</a:t>
            </a:r>
            <a:endParaRPr sz="1250">
              <a:solidFill>
                <a:srgbClr val="0000FF"/>
              </a:solidFill>
              <a:highlight>
                <a:srgbClr val="F7F7F7"/>
              </a:highlight>
              <a:latin typeface="Courier New"/>
              <a:ea typeface="Courier New"/>
              <a:cs typeface="Courier New"/>
              <a:sym typeface="Courier New"/>
            </a:endParaRPr>
          </a:p>
        </p:txBody>
      </p:sp>
      <p:pic>
        <p:nvPicPr>
          <p:cNvPr id="161" name="Google Shape;161;p18"/>
          <p:cNvPicPr preferRelativeResize="0"/>
          <p:nvPr/>
        </p:nvPicPr>
        <p:blipFill rotWithShape="1">
          <a:blip r:embed="rId3">
            <a:alphaModFix/>
          </a:blip>
          <a:srcRect b="0" l="0" r="0" t="6950"/>
          <a:stretch/>
        </p:blipFill>
        <p:spPr>
          <a:xfrm>
            <a:off x="819150" y="1625050"/>
            <a:ext cx="3653450" cy="32799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9"/>
          <p:cNvSpPr txBox="1"/>
          <p:nvPr>
            <p:ph type="title"/>
          </p:nvPr>
        </p:nvSpPr>
        <p:spPr>
          <a:xfrm>
            <a:off x="819150" y="417450"/>
            <a:ext cx="7505700" cy="138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            </a:t>
            </a:r>
            <a:r>
              <a:rPr lang="en"/>
              <a:t>Seasonality</a:t>
            </a:r>
            <a:r>
              <a:rPr lang="en"/>
              <a:t> plot</a:t>
            </a:r>
            <a:endParaRPr/>
          </a:p>
        </p:txBody>
      </p:sp>
      <p:sp>
        <p:nvSpPr>
          <p:cNvPr id="167" name="Google Shape;167;p19"/>
          <p:cNvSpPr txBox="1"/>
          <p:nvPr>
            <p:ph idx="1" type="body"/>
          </p:nvPr>
        </p:nvSpPr>
        <p:spPr>
          <a:xfrm>
            <a:off x="5635475" y="1990725"/>
            <a:ext cx="2689500" cy="1202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1250">
                <a:solidFill>
                  <a:srgbClr val="0000FF"/>
                </a:solidFill>
                <a:highlight>
                  <a:srgbClr val="F7F7F7"/>
                </a:highlight>
                <a:latin typeface="Courier New"/>
                <a:ea typeface="Courier New"/>
                <a:cs typeface="Courier New"/>
                <a:sym typeface="Courier New"/>
              </a:rPr>
              <a:t>From this seasonality plot we can conclude that seasonality exists</a:t>
            </a:r>
            <a:endParaRPr sz="1250">
              <a:solidFill>
                <a:srgbClr val="0000FF"/>
              </a:solidFill>
              <a:highlight>
                <a:srgbClr val="F7F7F7"/>
              </a:highlight>
              <a:latin typeface="Courier New"/>
              <a:ea typeface="Courier New"/>
              <a:cs typeface="Courier New"/>
              <a:sym typeface="Courier New"/>
            </a:endParaRPr>
          </a:p>
          <a:p>
            <a:pPr indent="0" lvl="0" marL="0" rtl="0" algn="l">
              <a:spcBef>
                <a:spcPts val="1200"/>
              </a:spcBef>
              <a:spcAft>
                <a:spcPts val="1200"/>
              </a:spcAft>
              <a:buNone/>
            </a:pPr>
            <a:r>
              <a:t/>
            </a:r>
            <a:endParaRPr/>
          </a:p>
        </p:txBody>
      </p:sp>
      <p:pic>
        <p:nvPicPr>
          <p:cNvPr id="168" name="Google Shape;168;p19"/>
          <p:cNvPicPr preferRelativeResize="0"/>
          <p:nvPr/>
        </p:nvPicPr>
        <p:blipFill>
          <a:blip r:embed="rId3">
            <a:alphaModFix/>
          </a:blip>
          <a:stretch>
            <a:fillRect/>
          </a:stretch>
        </p:blipFill>
        <p:spPr>
          <a:xfrm>
            <a:off x="745425" y="1684675"/>
            <a:ext cx="4308825" cy="30046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0"/>
          <p:cNvSpPr txBox="1"/>
          <p:nvPr>
            <p:ph type="title"/>
          </p:nvPr>
        </p:nvSpPr>
        <p:spPr>
          <a:xfrm>
            <a:off x="819150" y="506900"/>
            <a:ext cx="7505700" cy="93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               Noise plot</a:t>
            </a:r>
            <a:endParaRPr/>
          </a:p>
        </p:txBody>
      </p:sp>
      <p:sp>
        <p:nvSpPr>
          <p:cNvPr id="174" name="Google Shape;174;p20"/>
          <p:cNvSpPr txBox="1"/>
          <p:nvPr>
            <p:ph idx="1" type="body"/>
          </p:nvPr>
        </p:nvSpPr>
        <p:spPr>
          <a:xfrm>
            <a:off x="4549100" y="1990725"/>
            <a:ext cx="3775500" cy="9813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1250">
                <a:solidFill>
                  <a:srgbClr val="0000FF"/>
                </a:solidFill>
                <a:highlight>
                  <a:srgbClr val="F7F7F7"/>
                </a:highlight>
                <a:latin typeface="Courier New"/>
                <a:ea typeface="Courier New"/>
                <a:cs typeface="Courier New"/>
                <a:sym typeface="Courier New"/>
              </a:rPr>
              <a:t>From this noise plot we can conclude that noise exists</a:t>
            </a:r>
            <a:endParaRPr sz="1250">
              <a:solidFill>
                <a:srgbClr val="0000FF"/>
              </a:solidFill>
              <a:highlight>
                <a:srgbClr val="F7F7F7"/>
              </a:highlight>
              <a:latin typeface="Courier New"/>
              <a:ea typeface="Courier New"/>
              <a:cs typeface="Courier New"/>
              <a:sym typeface="Courier New"/>
            </a:endParaRPr>
          </a:p>
          <a:p>
            <a:pPr indent="0" lvl="0" marL="0" rtl="0" algn="l">
              <a:spcBef>
                <a:spcPts val="1200"/>
              </a:spcBef>
              <a:spcAft>
                <a:spcPts val="1200"/>
              </a:spcAft>
              <a:buNone/>
            </a:pPr>
            <a:r>
              <a:t/>
            </a:r>
            <a:endParaRPr/>
          </a:p>
        </p:txBody>
      </p:sp>
      <p:pic>
        <p:nvPicPr>
          <p:cNvPr id="175" name="Google Shape;175;p20"/>
          <p:cNvPicPr preferRelativeResize="0"/>
          <p:nvPr/>
        </p:nvPicPr>
        <p:blipFill>
          <a:blip r:embed="rId3">
            <a:alphaModFix/>
          </a:blip>
          <a:stretch>
            <a:fillRect/>
          </a:stretch>
        </p:blipFill>
        <p:spPr>
          <a:xfrm>
            <a:off x="443525" y="1676425"/>
            <a:ext cx="3775626" cy="29601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1"/>
          <p:cNvSpPr txBox="1"/>
          <p:nvPr>
            <p:ph type="title"/>
          </p:nvPr>
        </p:nvSpPr>
        <p:spPr>
          <a:xfrm>
            <a:off x="819150" y="566525"/>
            <a:ext cx="7505700" cy="1233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            Removing Noise</a:t>
            </a:r>
            <a:endParaRPr/>
          </a:p>
        </p:txBody>
      </p:sp>
      <p:sp>
        <p:nvSpPr>
          <p:cNvPr id="181" name="Google Shape;181;p21"/>
          <p:cNvSpPr txBox="1"/>
          <p:nvPr>
            <p:ph idx="1" type="body"/>
          </p:nvPr>
        </p:nvSpPr>
        <p:spPr>
          <a:xfrm>
            <a:off x="5218050" y="1800125"/>
            <a:ext cx="3593100" cy="819600"/>
          </a:xfrm>
          <a:prstGeom prst="rect">
            <a:avLst/>
          </a:prstGeom>
        </p:spPr>
        <p:txBody>
          <a:bodyPr anchorCtr="0" anchor="t" bIns="91425" lIns="91425" spcFirstLastPara="1" rIns="91425" wrap="square" tIns="91425">
            <a:spAutoFit/>
          </a:bodyPr>
          <a:lstStyle/>
          <a:p>
            <a:pPr indent="0" lvl="0" marL="0" rtl="0" algn="l">
              <a:spcBef>
                <a:spcPts val="0"/>
              </a:spcBef>
              <a:spcAft>
                <a:spcPts val="1200"/>
              </a:spcAft>
              <a:buNone/>
            </a:pPr>
            <a:r>
              <a:rPr lang="en" sz="1250">
                <a:solidFill>
                  <a:srgbClr val="0000FF"/>
                </a:solidFill>
                <a:highlight>
                  <a:srgbClr val="F7F7F7"/>
                </a:highlight>
                <a:latin typeface="Courier New"/>
                <a:ea typeface="Courier New"/>
                <a:cs typeface="Courier New"/>
                <a:sym typeface="Courier New"/>
              </a:rPr>
              <a:t>Applying log functions to eliminate the noise and the graph looks like this</a:t>
            </a:r>
            <a:endParaRPr/>
          </a:p>
        </p:txBody>
      </p:sp>
      <p:pic>
        <p:nvPicPr>
          <p:cNvPr id="182" name="Google Shape;182;p21"/>
          <p:cNvPicPr preferRelativeResize="0"/>
          <p:nvPr/>
        </p:nvPicPr>
        <p:blipFill>
          <a:blip r:embed="rId3">
            <a:alphaModFix/>
          </a:blip>
          <a:stretch>
            <a:fillRect/>
          </a:stretch>
        </p:blipFill>
        <p:spPr>
          <a:xfrm>
            <a:off x="819150" y="1800200"/>
            <a:ext cx="4099874" cy="30716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2"/>
          <p:cNvSpPr txBox="1"/>
          <p:nvPr>
            <p:ph type="title"/>
          </p:nvPr>
        </p:nvSpPr>
        <p:spPr>
          <a:xfrm>
            <a:off x="819150" y="328000"/>
            <a:ext cx="7505700" cy="805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                     ACF Plot</a:t>
            </a:r>
            <a:endParaRPr/>
          </a:p>
        </p:txBody>
      </p:sp>
      <p:sp>
        <p:nvSpPr>
          <p:cNvPr id="188" name="Google Shape;188;p22"/>
          <p:cNvSpPr txBox="1"/>
          <p:nvPr>
            <p:ph idx="1" type="body"/>
          </p:nvPr>
        </p:nvSpPr>
        <p:spPr>
          <a:xfrm>
            <a:off x="4919875" y="1990725"/>
            <a:ext cx="3405000" cy="1443000"/>
          </a:xfrm>
          <a:prstGeom prst="rect">
            <a:avLst/>
          </a:prstGeom>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0000FF"/>
                </a:solidFill>
                <a:highlight>
                  <a:srgbClr val="F7F7F7"/>
                </a:highlight>
                <a:latin typeface="Courier New"/>
                <a:ea typeface="Courier New"/>
                <a:cs typeface="Courier New"/>
                <a:sym typeface="Courier New"/>
              </a:rPr>
              <a:t>From Acf plot, we can conclude that the today's data is dependent on </a:t>
            </a:r>
            <a:r>
              <a:rPr lang="en" sz="1050">
                <a:solidFill>
                  <a:srgbClr val="0000FF"/>
                </a:solidFill>
                <a:highlight>
                  <a:srgbClr val="F7F7F7"/>
                </a:highlight>
                <a:latin typeface="Courier New"/>
                <a:ea typeface="Courier New"/>
                <a:cs typeface="Courier New"/>
                <a:sym typeface="Courier New"/>
              </a:rPr>
              <a:t>tomorrow's</a:t>
            </a:r>
            <a:r>
              <a:rPr lang="en" sz="1050">
                <a:solidFill>
                  <a:srgbClr val="0000FF"/>
                </a:solidFill>
                <a:highlight>
                  <a:srgbClr val="F7F7F7"/>
                </a:highlight>
                <a:latin typeface="Courier New"/>
                <a:ea typeface="Courier New"/>
                <a:cs typeface="Courier New"/>
                <a:sym typeface="Courier New"/>
              </a:rPr>
              <a:t> data, there exists a </a:t>
            </a:r>
            <a:r>
              <a:rPr lang="en" sz="1050">
                <a:solidFill>
                  <a:srgbClr val="0000FF"/>
                </a:solidFill>
                <a:highlight>
                  <a:srgbClr val="F7F7F7"/>
                </a:highlight>
                <a:latin typeface="Courier New"/>
                <a:ea typeface="Courier New"/>
                <a:cs typeface="Courier New"/>
                <a:sym typeface="Courier New"/>
              </a:rPr>
              <a:t>correlation</a:t>
            </a:r>
            <a:r>
              <a:rPr lang="en" sz="1050">
                <a:solidFill>
                  <a:srgbClr val="0000FF"/>
                </a:solidFill>
                <a:highlight>
                  <a:srgbClr val="F7F7F7"/>
                </a:highlight>
                <a:latin typeface="Courier New"/>
                <a:ea typeface="Courier New"/>
                <a:cs typeface="Courier New"/>
                <a:sym typeface="Courier New"/>
              </a:rPr>
              <a:t> up to some lag limit, once it crosses certain lag limit, </a:t>
            </a:r>
            <a:r>
              <a:rPr lang="en" sz="1050">
                <a:solidFill>
                  <a:srgbClr val="0000FF"/>
                </a:solidFill>
                <a:highlight>
                  <a:srgbClr val="F7F7F7"/>
                </a:highlight>
                <a:latin typeface="Courier New"/>
                <a:ea typeface="Courier New"/>
                <a:cs typeface="Courier New"/>
                <a:sym typeface="Courier New"/>
              </a:rPr>
              <a:t>correlation</a:t>
            </a:r>
            <a:r>
              <a:rPr lang="en" sz="1050">
                <a:solidFill>
                  <a:srgbClr val="0000FF"/>
                </a:solidFill>
                <a:highlight>
                  <a:srgbClr val="F7F7F7"/>
                </a:highlight>
                <a:latin typeface="Courier New"/>
                <a:ea typeface="Courier New"/>
                <a:cs typeface="Courier New"/>
                <a:sym typeface="Courier New"/>
              </a:rPr>
              <a:t> decreases gradually</a:t>
            </a:r>
            <a:endParaRPr/>
          </a:p>
        </p:txBody>
      </p:sp>
      <p:pic>
        <p:nvPicPr>
          <p:cNvPr id="189" name="Google Shape;189;p22"/>
          <p:cNvPicPr preferRelativeResize="0"/>
          <p:nvPr/>
        </p:nvPicPr>
        <p:blipFill>
          <a:blip r:embed="rId3">
            <a:alphaModFix/>
          </a:blip>
          <a:stretch>
            <a:fillRect/>
          </a:stretch>
        </p:blipFill>
        <p:spPr>
          <a:xfrm>
            <a:off x="677750" y="1133050"/>
            <a:ext cx="4078150" cy="35835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3"/>
          <p:cNvSpPr txBox="1"/>
          <p:nvPr>
            <p:ph type="title"/>
          </p:nvPr>
        </p:nvSpPr>
        <p:spPr>
          <a:xfrm>
            <a:off x="819150" y="551625"/>
            <a:ext cx="7505700" cy="954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                 PCF Plot</a:t>
            </a:r>
            <a:endParaRPr/>
          </a:p>
        </p:txBody>
      </p:sp>
      <p:sp>
        <p:nvSpPr>
          <p:cNvPr id="195" name="Google Shape;195;p23"/>
          <p:cNvSpPr txBox="1"/>
          <p:nvPr>
            <p:ph idx="1" type="body"/>
          </p:nvPr>
        </p:nvSpPr>
        <p:spPr>
          <a:xfrm>
            <a:off x="5292575" y="1990725"/>
            <a:ext cx="3032400" cy="1262100"/>
          </a:xfrm>
          <a:prstGeom prst="rect">
            <a:avLst/>
          </a:prstGeom>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0000FF"/>
                </a:solidFill>
                <a:highlight>
                  <a:srgbClr val="F7F7F7"/>
                </a:highlight>
                <a:latin typeface="Courier New"/>
                <a:ea typeface="Courier New"/>
                <a:cs typeface="Courier New"/>
                <a:sym typeface="Courier New"/>
              </a:rPr>
              <a:t>From pcf plot, we can conclude that</a:t>
            </a:r>
            <a:endParaRPr sz="1050">
              <a:solidFill>
                <a:srgbClr val="0000FF"/>
              </a:solidFill>
              <a:highlight>
                <a:srgbClr val="F7F7F7"/>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en" sz="1050">
                <a:solidFill>
                  <a:srgbClr val="0000FF"/>
                </a:solidFill>
                <a:highlight>
                  <a:srgbClr val="F7F7F7"/>
                </a:highlight>
                <a:latin typeface="Courier New"/>
                <a:ea typeface="Courier New"/>
                <a:cs typeface="Courier New"/>
                <a:sym typeface="Courier New"/>
              </a:rPr>
              <a:t>Correlation between the prices are consistent, not varying too much with respect to lag points</a:t>
            </a:r>
            <a:endParaRPr sz="1050">
              <a:solidFill>
                <a:srgbClr val="0000FF"/>
              </a:solidFill>
              <a:highlight>
                <a:srgbClr val="F7F7F7"/>
              </a:highlight>
              <a:latin typeface="Courier New"/>
              <a:ea typeface="Courier New"/>
              <a:cs typeface="Courier New"/>
              <a:sym typeface="Courier New"/>
            </a:endParaRPr>
          </a:p>
          <a:p>
            <a:pPr indent="0" lvl="0" marL="0" rtl="0" algn="l">
              <a:spcBef>
                <a:spcPts val="0"/>
              </a:spcBef>
              <a:spcAft>
                <a:spcPts val="1200"/>
              </a:spcAft>
              <a:buNone/>
            </a:pPr>
            <a:r>
              <a:t/>
            </a:r>
            <a:endParaRPr/>
          </a:p>
        </p:txBody>
      </p:sp>
      <p:pic>
        <p:nvPicPr>
          <p:cNvPr id="196" name="Google Shape;196;p23"/>
          <p:cNvPicPr preferRelativeResize="0"/>
          <p:nvPr/>
        </p:nvPicPr>
        <p:blipFill>
          <a:blip r:embed="rId3">
            <a:alphaModFix/>
          </a:blip>
          <a:stretch>
            <a:fillRect/>
          </a:stretch>
        </p:blipFill>
        <p:spPr>
          <a:xfrm>
            <a:off x="819150" y="1800200"/>
            <a:ext cx="4085800" cy="26385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           Feature Engineering</a:t>
            </a:r>
            <a:endParaRPr/>
          </a:p>
        </p:txBody>
      </p:sp>
      <p:sp>
        <p:nvSpPr>
          <p:cNvPr id="202" name="Google Shape;202;p24"/>
          <p:cNvSpPr txBox="1"/>
          <p:nvPr>
            <p:ph idx="1" type="body"/>
          </p:nvPr>
        </p:nvSpPr>
        <p:spPr>
          <a:xfrm>
            <a:off x="819150" y="1990725"/>
            <a:ext cx="7505700" cy="4517700"/>
          </a:xfrm>
          <a:prstGeom prst="rect">
            <a:avLst/>
          </a:prstGeom>
        </p:spPr>
        <p:txBody>
          <a:bodyPr anchorCtr="0" anchor="t" bIns="91425" lIns="91425" spcFirstLastPara="1" rIns="91425" wrap="square" tIns="91425">
            <a:spAutoFit/>
          </a:bodyPr>
          <a:lstStyle/>
          <a:p>
            <a:pPr indent="-349250" lvl="0" marL="457200" rtl="0" algn="l">
              <a:spcBef>
                <a:spcPts val="0"/>
              </a:spcBef>
              <a:spcAft>
                <a:spcPts val="0"/>
              </a:spcAft>
              <a:buSzPts val="1900"/>
              <a:buFont typeface="Nunito"/>
              <a:buChar char="●"/>
            </a:pPr>
            <a:r>
              <a:rPr lang="en" sz="1900">
                <a:latin typeface="Nunito"/>
                <a:ea typeface="Nunito"/>
                <a:cs typeface="Nunito"/>
                <a:sym typeface="Nunito"/>
              </a:rPr>
              <a:t>In our data set, we </a:t>
            </a:r>
            <a:r>
              <a:rPr lang="en" sz="1900">
                <a:latin typeface="Nunito"/>
                <a:ea typeface="Nunito"/>
                <a:cs typeface="Nunito"/>
                <a:sym typeface="Nunito"/>
              </a:rPr>
              <a:t>don't</a:t>
            </a:r>
            <a:r>
              <a:rPr lang="en" sz="1900">
                <a:latin typeface="Nunito"/>
                <a:ea typeface="Nunito"/>
                <a:cs typeface="Nunito"/>
                <a:sym typeface="Nunito"/>
              </a:rPr>
              <a:t> have any categorical data, so we are not dealing with conversion of data from categorical to numerical. </a:t>
            </a:r>
            <a:endParaRPr sz="1900">
              <a:latin typeface="Nunito"/>
              <a:ea typeface="Nunito"/>
              <a:cs typeface="Nunito"/>
              <a:sym typeface="Nunito"/>
            </a:endParaRPr>
          </a:p>
          <a:p>
            <a:pPr indent="-349250" lvl="0" marL="457200" rtl="0" algn="l">
              <a:spcBef>
                <a:spcPts val="0"/>
              </a:spcBef>
              <a:spcAft>
                <a:spcPts val="0"/>
              </a:spcAft>
              <a:buSzPts val="1900"/>
              <a:buFont typeface="Nunito"/>
              <a:buChar char="●"/>
            </a:pPr>
            <a:r>
              <a:rPr lang="en" sz="1900">
                <a:latin typeface="Nunito"/>
                <a:ea typeface="Nunito"/>
                <a:cs typeface="Nunito"/>
                <a:sym typeface="Nunito"/>
              </a:rPr>
              <a:t>Applying standardization by using Standard scaling method</a:t>
            </a:r>
            <a:endParaRPr sz="1900">
              <a:latin typeface="Nunito"/>
              <a:ea typeface="Nunito"/>
              <a:cs typeface="Nunito"/>
              <a:sym typeface="Nunito"/>
            </a:endParaRPr>
          </a:p>
          <a:p>
            <a:pPr indent="-349250" lvl="0" marL="457200" rtl="0" algn="l">
              <a:spcBef>
                <a:spcPts val="0"/>
              </a:spcBef>
              <a:spcAft>
                <a:spcPts val="0"/>
              </a:spcAft>
              <a:buSzPts val="1900"/>
              <a:buFont typeface="Nunito"/>
              <a:buChar char="●"/>
            </a:pPr>
            <a:r>
              <a:rPr lang="en" sz="1900">
                <a:latin typeface="Nunito"/>
                <a:ea typeface="Nunito"/>
                <a:cs typeface="Nunito"/>
                <a:sym typeface="Nunito"/>
              </a:rPr>
              <a:t>Calculated average closing price and average volume in order to check</a:t>
            </a:r>
            <a:r>
              <a:rPr lang="en" sz="1900">
                <a:latin typeface="Nunito"/>
                <a:ea typeface="Nunito"/>
                <a:cs typeface="Nunito"/>
                <a:sym typeface="Nunito"/>
              </a:rPr>
              <a:t> variation</a:t>
            </a:r>
            <a:endParaRPr sz="1900">
              <a:latin typeface="Nunito"/>
              <a:ea typeface="Nunito"/>
              <a:cs typeface="Nunito"/>
              <a:sym typeface="Nunito"/>
            </a:endParaRPr>
          </a:p>
          <a:p>
            <a:pPr indent="0" lvl="0" marL="457200" rtl="0" algn="l">
              <a:spcBef>
                <a:spcPts val="1200"/>
              </a:spcBef>
              <a:spcAft>
                <a:spcPts val="0"/>
              </a:spcAft>
              <a:buNone/>
            </a:pPr>
            <a:r>
              <a:t/>
            </a:r>
            <a:endParaRPr sz="1900">
              <a:latin typeface="Nunito"/>
              <a:ea typeface="Nunito"/>
              <a:cs typeface="Nunito"/>
              <a:sym typeface="Nunito"/>
            </a:endParaRPr>
          </a:p>
          <a:p>
            <a:pPr indent="0" lvl="0" marL="457200" rtl="0" algn="l">
              <a:spcBef>
                <a:spcPts val="1200"/>
              </a:spcBef>
              <a:spcAft>
                <a:spcPts val="0"/>
              </a:spcAft>
              <a:buNone/>
            </a:pPr>
            <a:r>
              <a:t/>
            </a:r>
            <a:endParaRPr sz="1900">
              <a:latin typeface="Nunito"/>
              <a:ea typeface="Nunito"/>
              <a:cs typeface="Nunito"/>
              <a:sym typeface="Nunito"/>
            </a:endParaRPr>
          </a:p>
          <a:p>
            <a:pPr indent="0" lvl="0" marL="0" rtl="0" algn="l">
              <a:spcBef>
                <a:spcPts val="1200"/>
              </a:spcBef>
              <a:spcAft>
                <a:spcPts val="0"/>
              </a:spcAft>
              <a:buNone/>
            </a:pPr>
            <a:r>
              <a:t/>
            </a:r>
            <a:endParaRPr sz="1900">
              <a:latin typeface="Nunito"/>
              <a:ea typeface="Nunito"/>
              <a:cs typeface="Nunito"/>
              <a:sym typeface="Nunito"/>
            </a:endParaRPr>
          </a:p>
          <a:p>
            <a:pPr indent="0" lvl="0" marL="0" rtl="0" algn="l">
              <a:spcBef>
                <a:spcPts val="1200"/>
              </a:spcBef>
              <a:spcAft>
                <a:spcPts val="0"/>
              </a:spcAft>
              <a:buNone/>
            </a:pPr>
            <a:r>
              <a:t/>
            </a:r>
            <a:endParaRPr sz="1900">
              <a:latin typeface="Nunito"/>
              <a:ea typeface="Nunito"/>
              <a:cs typeface="Nunito"/>
              <a:sym typeface="Nunito"/>
            </a:endParaRPr>
          </a:p>
          <a:p>
            <a:pPr indent="0" lvl="0" marL="457200" rtl="0" algn="l">
              <a:spcBef>
                <a:spcPts val="1200"/>
              </a:spcBef>
              <a:spcAft>
                <a:spcPts val="120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          Model Building</a:t>
            </a:r>
            <a:endParaRPr/>
          </a:p>
        </p:txBody>
      </p:sp>
      <p:sp>
        <p:nvSpPr>
          <p:cNvPr id="208" name="Google Shape;208;p25"/>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349250" lvl="0" marL="457200" rtl="0" algn="l">
              <a:spcBef>
                <a:spcPts val="0"/>
              </a:spcBef>
              <a:spcAft>
                <a:spcPts val="0"/>
              </a:spcAft>
              <a:buSzPts val="1900"/>
              <a:buFont typeface="Nunito"/>
              <a:buChar char="●"/>
            </a:pPr>
            <a:r>
              <a:rPr lang="en" sz="1900">
                <a:latin typeface="Nunito"/>
                <a:ea typeface="Nunito"/>
                <a:cs typeface="Nunito"/>
                <a:sym typeface="Nunito"/>
              </a:rPr>
              <a:t>We have implemented different types of models for predicting</a:t>
            </a:r>
            <a:endParaRPr sz="1900">
              <a:latin typeface="Nunito"/>
              <a:ea typeface="Nunito"/>
              <a:cs typeface="Nunito"/>
              <a:sym typeface="Nunito"/>
            </a:endParaRPr>
          </a:p>
          <a:p>
            <a:pPr indent="0" lvl="0" marL="457200" rtl="0" algn="l">
              <a:spcBef>
                <a:spcPts val="1200"/>
              </a:spcBef>
              <a:spcAft>
                <a:spcPts val="0"/>
              </a:spcAft>
              <a:buNone/>
            </a:pPr>
            <a:r>
              <a:rPr lang="en" sz="1900">
                <a:latin typeface="Nunito"/>
                <a:ea typeface="Nunito"/>
                <a:cs typeface="Nunito"/>
                <a:sym typeface="Nunito"/>
              </a:rPr>
              <a:t>Closing price for the next 30 days.</a:t>
            </a:r>
            <a:endParaRPr sz="1900">
              <a:latin typeface="Nunito"/>
              <a:ea typeface="Nunito"/>
              <a:cs typeface="Nunito"/>
              <a:sym typeface="Nunito"/>
            </a:endParaRPr>
          </a:p>
          <a:p>
            <a:pPr indent="-349250" lvl="0" marL="457200" rtl="0" algn="l">
              <a:spcBef>
                <a:spcPts val="1200"/>
              </a:spcBef>
              <a:spcAft>
                <a:spcPts val="0"/>
              </a:spcAft>
              <a:buSzPts val="1900"/>
              <a:buFont typeface="Nunito"/>
              <a:buChar char="●"/>
            </a:pPr>
            <a:r>
              <a:rPr lang="en" sz="1900">
                <a:latin typeface="Nunito"/>
                <a:ea typeface="Nunito"/>
                <a:cs typeface="Nunito"/>
                <a:sym typeface="Nunito"/>
              </a:rPr>
              <a:t>Differencing method to convert non-stationality data to stationality. </a:t>
            </a:r>
            <a:endParaRPr sz="1900">
              <a:latin typeface="Nunito"/>
              <a:ea typeface="Nunito"/>
              <a:cs typeface="Nunito"/>
              <a:sym typeface="Nunito"/>
            </a:endParaRPr>
          </a:p>
          <a:p>
            <a:pPr indent="-349250" lvl="0" marL="457200" rtl="0" algn="l">
              <a:spcBef>
                <a:spcPts val="0"/>
              </a:spcBef>
              <a:spcAft>
                <a:spcPts val="0"/>
              </a:spcAft>
              <a:buSzPts val="1900"/>
              <a:buFont typeface="Nunito"/>
              <a:buChar char="●"/>
            </a:pPr>
            <a:r>
              <a:rPr lang="en" sz="1900">
                <a:latin typeface="Nunito"/>
                <a:ea typeface="Nunito"/>
                <a:cs typeface="Nunito"/>
                <a:sym typeface="Nunito"/>
              </a:rPr>
              <a:t>Conducted Ducky-fuller test in order to confirm, data is stationality by comparing p value with alpha value</a:t>
            </a:r>
            <a:endParaRPr sz="1900">
              <a:latin typeface="Nunito"/>
              <a:ea typeface="Nunito"/>
              <a:cs typeface="Nunito"/>
              <a:sym typeface="Nuni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6"/>
          <p:cNvSpPr txBox="1"/>
          <p:nvPr>
            <p:ph idx="1" type="body"/>
          </p:nvPr>
        </p:nvSpPr>
        <p:spPr>
          <a:xfrm>
            <a:off x="819150" y="1267250"/>
            <a:ext cx="7505700" cy="3110700"/>
          </a:xfrm>
          <a:prstGeom prst="rect">
            <a:avLst/>
          </a:prstGeom>
        </p:spPr>
        <p:txBody>
          <a:bodyPr anchorCtr="0" anchor="t" bIns="91425" lIns="91425" spcFirstLastPara="1" rIns="91425" wrap="square" tIns="91425">
            <a:spAutoFit/>
          </a:bodyPr>
          <a:lstStyle/>
          <a:p>
            <a:pPr indent="-349250" lvl="0" marL="457200" rtl="0" algn="l">
              <a:spcBef>
                <a:spcPts val="0"/>
              </a:spcBef>
              <a:spcAft>
                <a:spcPts val="0"/>
              </a:spcAft>
              <a:buSzPts val="1900"/>
              <a:buFont typeface="Nunito"/>
              <a:buChar char="●"/>
            </a:pPr>
            <a:r>
              <a:rPr lang="en" sz="1900">
                <a:latin typeface="Nunito"/>
                <a:ea typeface="Nunito"/>
                <a:cs typeface="Nunito"/>
                <a:sym typeface="Nunito"/>
              </a:rPr>
              <a:t>For model building, we opted  ARIMA model  and LSTM </a:t>
            </a:r>
            <a:endParaRPr sz="1900">
              <a:latin typeface="Nunito"/>
              <a:ea typeface="Nunito"/>
              <a:cs typeface="Nunito"/>
              <a:sym typeface="Nunito"/>
            </a:endParaRPr>
          </a:p>
          <a:p>
            <a:pPr indent="0" lvl="0" marL="457200" rtl="0" algn="l">
              <a:spcBef>
                <a:spcPts val="1200"/>
              </a:spcBef>
              <a:spcAft>
                <a:spcPts val="0"/>
              </a:spcAft>
              <a:buNone/>
            </a:pPr>
            <a:r>
              <a:rPr lang="en" sz="1900">
                <a:latin typeface="Nunito"/>
                <a:ea typeface="Nunito"/>
                <a:cs typeface="Nunito"/>
                <a:sym typeface="Nunito"/>
              </a:rPr>
              <a:t>Model for predicting the price.</a:t>
            </a:r>
            <a:endParaRPr sz="1900">
              <a:latin typeface="Nunito"/>
              <a:ea typeface="Nunito"/>
              <a:cs typeface="Nunito"/>
              <a:sym typeface="Nunito"/>
            </a:endParaRPr>
          </a:p>
          <a:p>
            <a:pPr indent="-349250" lvl="0" marL="457200" rtl="0" algn="l">
              <a:spcBef>
                <a:spcPts val="1200"/>
              </a:spcBef>
              <a:spcAft>
                <a:spcPts val="0"/>
              </a:spcAft>
              <a:buSzPts val="1900"/>
              <a:buFont typeface="Nunito"/>
              <a:buChar char="●"/>
            </a:pPr>
            <a:r>
              <a:rPr lang="en" sz="1900">
                <a:latin typeface="Nunito"/>
                <a:ea typeface="Nunito"/>
                <a:cs typeface="Nunito"/>
                <a:sym typeface="Nunito"/>
              </a:rPr>
              <a:t>Among ARIMA and LSTM, ARIMA model gave least mean squared value</a:t>
            </a:r>
            <a:endParaRPr sz="1900">
              <a:latin typeface="Nunito"/>
              <a:ea typeface="Nunito"/>
              <a:cs typeface="Nunito"/>
              <a:sym typeface="Nunito"/>
            </a:endParaRPr>
          </a:p>
          <a:p>
            <a:pPr indent="-349250" lvl="0" marL="457200" rtl="0" algn="l">
              <a:spcBef>
                <a:spcPts val="0"/>
              </a:spcBef>
              <a:spcAft>
                <a:spcPts val="0"/>
              </a:spcAft>
              <a:buSzPts val="1900"/>
              <a:buFont typeface="Nunito"/>
              <a:buChar char="●"/>
            </a:pPr>
            <a:r>
              <a:rPr lang="en" sz="1900">
                <a:latin typeface="Nunito"/>
                <a:ea typeface="Nunito"/>
                <a:cs typeface="Nunito"/>
                <a:sym typeface="Nunito"/>
              </a:rPr>
              <a:t>Finally, we </a:t>
            </a:r>
            <a:r>
              <a:rPr lang="en" sz="1900">
                <a:latin typeface="Nunito"/>
                <a:ea typeface="Nunito"/>
                <a:cs typeface="Nunito"/>
                <a:sym typeface="Nunito"/>
              </a:rPr>
              <a:t>choose</a:t>
            </a:r>
            <a:r>
              <a:rPr lang="en" sz="1900">
                <a:latin typeface="Nunito"/>
                <a:ea typeface="Nunito"/>
                <a:cs typeface="Nunito"/>
                <a:sym typeface="Nunito"/>
              </a:rPr>
              <a:t> ARIMA model for model deployment</a:t>
            </a:r>
            <a:endParaRPr sz="1900">
              <a:latin typeface="Nunito"/>
              <a:ea typeface="Nunito"/>
              <a:cs typeface="Nunito"/>
              <a:sym typeface="Nunito"/>
            </a:endParaRPr>
          </a:p>
          <a:p>
            <a:pPr indent="0" lvl="0" marL="0" rtl="0" algn="l">
              <a:spcBef>
                <a:spcPts val="1200"/>
              </a:spcBef>
              <a:spcAft>
                <a:spcPts val="0"/>
              </a:spcAft>
              <a:buNone/>
            </a:pPr>
            <a:r>
              <a:t/>
            </a:r>
            <a:endParaRPr sz="1900">
              <a:latin typeface="Nunito"/>
              <a:ea typeface="Nunito"/>
              <a:cs typeface="Nunito"/>
              <a:sym typeface="Nunito"/>
            </a:endParaRPr>
          </a:p>
          <a:p>
            <a:pPr indent="0" lvl="0" marL="0" rtl="0" algn="l">
              <a:spcBef>
                <a:spcPts val="1200"/>
              </a:spcBef>
              <a:spcAft>
                <a:spcPts val="1200"/>
              </a:spcAft>
              <a:buNone/>
            </a:pPr>
            <a:r>
              <a:rPr lang="en" sz="1900">
                <a:latin typeface="Nunito"/>
                <a:ea typeface="Nunito"/>
                <a:cs typeface="Nunito"/>
                <a:sym typeface="Nunito"/>
              </a:rPr>
              <a:t>       </a:t>
            </a:r>
            <a:endParaRPr sz="1900">
              <a:latin typeface="Nunito"/>
              <a:ea typeface="Nunito"/>
              <a:cs typeface="Nunito"/>
              <a:sym typeface="Nuni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7"/>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          Model Deployment</a:t>
            </a:r>
            <a:endParaRPr/>
          </a:p>
        </p:txBody>
      </p:sp>
      <p:sp>
        <p:nvSpPr>
          <p:cNvPr id="219" name="Google Shape;219;p27"/>
          <p:cNvSpPr txBox="1"/>
          <p:nvPr>
            <p:ph idx="1" type="body"/>
          </p:nvPr>
        </p:nvSpPr>
        <p:spPr>
          <a:xfrm>
            <a:off x="819150" y="1990725"/>
            <a:ext cx="7022700" cy="1035900"/>
          </a:xfrm>
          <a:prstGeom prst="rect">
            <a:avLst/>
          </a:prstGeom>
        </p:spPr>
        <p:txBody>
          <a:bodyPr anchorCtr="0" anchor="t" bIns="91425" lIns="91425" spcFirstLastPara="1" rIns="91425" wrap="square" tIns="91425">
            <a:normAutofit/>
          </a:bodyPr>
          <a:lstStyle/>
          <a:p>
            <a:pPr indent="-349250" lvl="0" marL="457200" rtl="0" algn="l">
              <a:spcBef>
                <a:spcPts val="0"/>
              </a:spcBef>
              <a:spcAft>
                <a:spcPts val="0"/>
              </a:spcAft>
              <a:buSzPts val="1900"/>
              <a:buFont typeface="Nunito"/>
              <a:buChar char="●"/>
            </a:pPr>
            <a:r>
              <a:rPr lang="en" sz="1900">
                <a:latin typeface="Nunito"/>
                <a:ea typeface="Nunito"/>
                <a:cs typeface="Nunito"/>
                <a:sym typeface="Nunito"/>
              </a:rPr>
              <a:t>Deployed the model  through streamlit app</a:t>
            </a:r>
            <a:endParaRPr sz="1900">
              <a:latin typeface="Nunito"/>
              <a:ea typeface="Nunito"/>
              <a:cs typeface="Nunito"/>
              <a:sym typeface="Nunito"/>
            </a:endParaRPr>
          </a:p>
          <a:p>
            <a:pPr indent="-349250" lvl="0" marL="457200" rtl="0" algn="l">
              <a:spcBef>
                <a:spcPts val="0"/>
              </a:spcBef>
              <a:spcAft>
                <a:spcPts val="0"/>
              </a:spcAft>
              <a:buSzPts val="1900"/>
              <a:buFont typeface="Nunito"/>
              <a:buChar char="●"/>
            </a:pPr>
            <a:r>
              <a:rPr lang="en" sz="1900">
                <a:latin typeface="Nunito"/>
                <a:ea typeface="Nunito"/>
                <a:cs typeface="Nunito"/>
                <a:sym typeface="Nunito"/>
              </a:rPr>
              <a:t>Actual and predicted prices are streaming in our web app</a:t>
            </a:r>
            <a:endParaRPr sz="1900">
              <a:latin typeface="Nunito"/>
              <a:ea typeface="Nunito"/>
              <a:cs typeface="Nunito"/>
              <a:sym typeface="Nuni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8"/>
          <p:cNvSpPr txBox="1"/>
          <p:nvPr>
            <p:ph type="title"/>
          </p:nvPr>
        </p:nvSpPr>
        <p:spPr>
          <a:xfrm>
            <a:off x="819150" y="506900"/>
            <a:ext cx="7505700" cy="90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             Stream lit web app</a:t>
            </a:r>
            <a:endParaRPr/>
          </a:p>
        </p:txBody>
      </p:sp>
      <p:sp>
        <p:nvSpPr>
          <p:cNvPr id="225" name="Google Shape;225;p28"/>
          <p:cNvSpPr txBox="1"/>
          <p:nvPr>
            <p:ph idx="1" type="body"/>
          </p:nvPr>
        </p:nvSpPr>
        <p:spPr>
          <a:xfrm>
            <a:off x="819150" y="1610150"/>
            <a:ext cx="7505700" cy="28287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t/>
            </a:r>
            <a:endParaRPr/>
          </a:p>
        </p:txBody>
      </p:sp>
      <p:pic>
        <p:nvPicPr>
          <p:cNvPr id="226" name="Google Shape;226;p28"/>
          <p:cNvPicPr preferRelativeResize="0"/>
          <p:nvPr/>
        </p:nvPicPr>
        <p:blipFill>
          <a:blip r:embed="rId3">
            <a:alphaModFix/>
          </a:blip>
          <a:stretch>
            <a:fillRect/>
          </a:stretch>
        </p:blipFill>
        <p:spPr>
          <a:xfrm>
            <a:off x="819150" y="1990725"/>
            <a:ext cx="3310974" cy="2317900"/>
          </a:xfrm>
          <a:prstGeom prst="rect">
            <a:avLst/>
          </a:prstGeom>
          <a:noFill/>
          <a:ln>
            <a:noFill/>
          </a:ln>
        </p:spPr>
      </p:pic>
      <p:pic>
        <p:nvPicPr>
          <p:cNvPr id="227" name="Google Shape;227;p28"/>
          <p:cNvPicPr preferRelativeResize="0"/>
          <p:nvPr/>
        </p:nvPicPr>
        <p:blipFill>
          <a:blip r:embed="rId4">
            <a:alphaModFix/>
          </a:blip>
          <a:stretch>
            <a:fillRect/>
          </a:stretch>
        </p:blipFill>
        <p:spPr>
          <a:xfrm>
            <a:off x="3997800" y="1519138"/>
            <a:ext cx="4327050" cy="326107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9"/>
          <p:cNvSpPr txBox="1"/>
          <p:nvPr>
            <p:ph type="title"/>
          </p:nvPr>
        </p:nvSpPr>
        <p:spPr>
          <a:xfrm>
            <a:off x="819150" y="845600"/>
            <a:ext cx="7505700" cy="794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             </a:t>
            </a:r>
            <a:r>
              <a:rPr lang="en"/>
              <a:t>Challenges</a:t>
            </a:r>
            <a:r>
              <a:rPr lang="en"/>
              <a:t> Faced</a:t>
            </a:r>
            <a:endParaRPr/>
          </a:p>
        </p:txBody>
      </p:sp>
      <p:sp>
        <p:nvSpPr>
          <p:cNvPr id="233" name="Google Shape;233;p29"/>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349250" lvl="0" marL="457200" rtl="0" algn="l">
              <a:spcBef>
                <a:spcPts val="0"/>
              </a:spcBef>
              <a:spcAft>
                <a:spcPts val="0"/>
              </a:spcAft>
              <a:buSzPts val="1900"/>
              <a:buFont typeface="Nunito"/>
              <a:buChar char="●"/>
            </a:pPr>
            <a:r>
              <a:rPr lang="en" sz="1900">
                <a:latin typeface="Nunito"/>
                <a:ea typeface="Nunito"/>
                <a:cs typeface="Nunito"/>
                <a:sym typeface="Nunito"/>
              </a:rPr>
              <a:t>When we started to work on model building part, it was very challenging for us to choose a better performing model.</a:t>
            </a:r>
            <a:endParaRPr sz="1900">
              <a:latin typeface="Nunito"/>
              <a:ea typeface="Nunito"/>
              <a:cs typeface="Nunito"/>
              <a:sym typeface="Nunito"/>
            </a:endParaRPr>
          </a:p>
          <a:p>
            <a:pPr indent="-349250" lvl="0" marL="457200" rtl="0" algn="l">
              <a:spcBef>
                <a:spcPts val="0"/>
              </a:spcBef>
              <a:spcAft>
                <a:spcPts val="0"/>
              </a:spcAft>
              <a:buSzPts val="1900"/>
              <a:buFont typeface="Nunito"/>
              <a:buChar char="●"/>
            </a:pPr>
            <a:r>
              <a:rPr lang="en" sz="1900">
                <a:latin typeface="Nunito"/>
                <a:ea typeface="Nunito"/>
                <a:cs typeface="Nunito"/>
                <a:sym typeface="Nunito"/>
              </a:rPr>
              <a:t>While evaluating performance of the model, we faced some challenges</a:t>
            </a:r>
            <a:endParaRPr sz="1900">
              <a:latin typeface="Nunito"/>
              <a:ea typeface="Nunito"/>
              <a:cs typeface="Nunito"/>
              <a:sym typeface="Nunito"/>
            </a:endParaRPr>
          </a:p>
          <a:p>
            <a:pPr indent="-349250" lvl="0" marL="457200" rtl="0" algn="l">
              <a:spcBef>
                <a:spcPts val="0"/>
              </a:spcBef>
              <a:spcAft>
                <a:spcPts val="0"/>
              </a:spcAft>
              <a:buSzPts val="1900"/>
              <a:buFont typeface="Nunito"/>
              <a:buChar char="●"/>
            </a:pPr>
            <a:r>
              <a:rPr lang="en" sz="1900">
                <a:latin typeface="Nunito"/>
                <a:ea typeface="Nunito"/>
                <a:cs typeface="Nunito"/>
                <a:sym typeface="Nunito"/>
              </a:rPr>
              <a:t>Minor errors were encountered when we started to build Lstm model for predicting price</a:t>
            </a:r>
            <a:endParaRPr sz="1900">
              <a:latin typeface="Nunito"/>
              <a:ea typeface="Nunito"/>
              <a:cs typeface="Nunito"/>
              <a:sym typeface="Nuni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0"/>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                 Conclusion</a:t>
            </a:r>
            <a:endParaRPr/>
          </a:p>
        </p:txBody>
      </p:sp>
      <p:sp>
        <p:nvSpPr>
          <p:cNvPr id="239" name="Google Shape;239;p30"/>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457200" rtl="0" algn="l">
              <a:spcBef>
                <a:spcPts val="0"/>
              </a:spcBef>
              <a:spcAft>
                <a:spcPts val="1200"/>
              </a:spcAft>
              <a:buNone/>
            </a:pPr>
            <a:r>
              <a:rPr lang="en" sz="1900">
                <a:latin typeface="Nunito"/>
                <a:ea typeface="Nunito"/>
                <a:cs typeface="Nunito"/>
                <a:sym typeface="Nunito"/>
              </a:rPr>
              <a:t>I</a:t>
            </a:r>
            <a:r>
              <a:rPr lang="en" sz="1800">
                <a:solidFill>
                  <a:srgbClr val="0D0D0D"/>
                </a:solidFill>
                <a:highlight>
                  <a:srgbClr val="FFFFFF"/>
                </a:highlight>
                <a:latin typeface="Nunito"/>
                <a:ea typeface="Nunito"/>
                <a:cs typeface="Nunito"/>
                <a:sym typeface="Nunito"/>
              </a:rPr>
              <a:t>n </a:t>
            </a:r>
            <a:r>
              <a:rPr lang="en" sz="1900">
                <a:solidFill>
                  <a:srgbClr val="0D0D0D"/>
                </a:solidFill>
                <a:highlight>
                  <a:srgbClr val="FFFFFF"/>
                </a:highlight>
                <a:latin typeface="Nunito"/>
                <a:ea typeface="Nunito"/>
                <a:cs typeface="Nunito"/>
                <a:sym typeface="Nunito"/>
              </a:rPr>
              <a:t>conclusion, the project aimed to predict stock prices using various machine learning techniques and historical data. Through the implementation of different algorithms such as ARIMA , differencing methods or  LSTM neural networks, we have successfully builded the  model and forecasted future stock prices based on past trends and market indicators.</a:t>
            </a:r>
            <a:endParaRPr sz="1900">
              <a:latin typeface="Nunito"/>
              <a:ea typeface="Nunito"/>
              <a:cs typeface="Nunito"/>
              <a:sym typeface="Nuni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1"/>
          <p:cNvSpPr txBox="1"/>
          <p:nvPr>
            <p:ph type="title"/>
          </p:nvPr>
        </p:nvSpPr>
        <p:spPr>
          <a:xfrm>
            <a:off x="819150" y="845600"/>
            <a:ext cx="7505700" cy="6465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     </a:t>
            </a:r>
            <a:endParaRPr/>
          </a:p>
        </p:txBody>
      </p:sp>
      <p:sp>
        <p:nvSpPr>
          <p:cNvPr id="245" name="Google Shape;245;p31"/>
          <p:cNvSpPr txBox="1"/>
          <p:nvPr>
            <p:ph idx="1" type="body"/>
          </p:nvPr>
        </p:nvSpPr>
        <p:spPr>
          <a:xfrm>
            <a:off x="983975" y="1073425"/>
            <a:ext cx="6947400" cy="259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highlight>
                <a:srgbClr val="FFFF00"/>
              </a:highlight>
            </a:endParaRPr>
          </a:p>
          <a:p>
            <a:pPr indent="0" lvl="0" marL="0" rtl="0" algn="l">
              <a:spcBef>
                <a:spcPts val="1200"/>
              </a:spcBef>
              <a:spcAft>
                <a:spcPts val="0"/>
              </a:spcAft>
              <a:buNone/>
            </a:pPr>
            <a:r>
              <a:t/>
            </a:r>
            <a:endParaRPr>
              <a:highlight>
                <a:srgbClr val="FFFF00"/>
              </a:highlight>
            </a:endParaRPr>
          </a:p>
          <a:p>
            <a:pPr indent="0" lvl="0" marL="0" rtl="0" algn="l">
              <a:spcBef>
                <a:spcPts val="1200"/>
              </a:spcBef>
              <a:spcAft>
                <a:spcPts val="0"/>
              </a:spcAft>
              <a:buNone/>
            </a:pPr>
            <a:r>
              <a:t/>
            </a:r>
            <a:endParaRPr>
              <a:highlight>
                <a:srgbClr val="FFFF00"/>
              </a:highlight>
            </a:endParaRPr>
          </a:p>
          <a:p>
            <a:pPr indent="0" lvl="0" marL="0" rtl="0" algn="l">
              <a:spcBef>
                <a:spcPts val="1200"/>
              </a:spcBef>
              <a:spcAft>
                <a:spcPts val="1200"/>
              </a:spcAft>
              <a:buNone/>
            </a:pPr>
            <a:r>
              <a:rPr lang="en">
                <a:highlight>
                  <a:srgbClr val="FFFF00"/>
                </a:highlight>
              </a:rPr>
              <a:t>                                                         </a:t>
            </a:r>
            <a:r>
              <a:rPr lang="en" sz="3400">
                <a:highlight>
                  <a:srgbClr val="FFFF00"/>
                </a:highlight>
                <a:latin typeface="Nunito"/>
                <a:ea typeface="Nunito"/>
                <a:cs typeface="Nunito"/>
                <a:sym typeface="Nunito"/>
              </a:rPr>
              <a:t>Thank you</a:t>
            </a:r>
            <a:r>
              <a:rPr lang="en" sz="1700">
                <a:highlight>
                  <a:srgbClr val="FFFF00"/>
                </a:highlight>
              </a:rPr>
              <a:t>     </a:t>
            </a:r>
            <a:endParaRPr sz="1700">
              <a:highlight>
                <a:srgbClr val="FFFF00"/>
              </a:highlight>
            </a:endParaRPr>
          </a:p>
        </p:txBody>
      </p:sp>
    </p:spTree>
  </p:cSld>
  <p:clrMapOvr>
    <a:masterClrMapping/>
  </p:clrMapOvr>
</p:sld>
</file>

<file path=ppt/theme/theme1.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